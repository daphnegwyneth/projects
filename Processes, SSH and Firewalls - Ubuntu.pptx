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7" r:id="rId3"/>
    <p:sldId id="258" r:id="rId4"/>
    <p:sldId id="259" r:id="rId5"/>
    <p:sldId id="260"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4" autoAdjust="0"/>
    <p:restoredTop sz="94660"/>
  </p:normalViewPr>
  <p:slideViewPr>
    <p:cSldViewPr snapToGrid="0">
      <p:cViewPr varScale="1">
        <p:scale>
          <a:sx n="59" d="100"/>
          <a:sy n="59" d="100"/>
        </p:scale>
        <p:origin x="77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3/27/2025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72387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3/27/2025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21440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3/27/2025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6170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3/27/2025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03381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3/27/2025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71688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3/27/2025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172670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3/27/2025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899156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3/27/2025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47826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3/27/2025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71181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3/27/2025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31823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3/27/2025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7889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3/27/2025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3502504"/>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4" name="Picture 3">
            <a:extLst>
              <a:ext uri="{FF2B5EF4-FFF2-40B4-BE49-F238E27FC236}">
                <a16:creationId xmlns:a16="http://schemas.microsoft.com/office/drawing/2014/main" id="{897ECA8E-64E2-C3F4-58F5-D89CFC1E2958}"/>
              </a:ext>
            </a:extLst>
          </p:cNvPr>
          <p:cNvPicPr>
            <a:picLocks noChangeAspect="1"/>
          </p:cNvPicPr>
          <p:nvPr/>
        </p:nvPicPr>
        <p:blipFill>
          <a:blip r:embed="rId2"/>
          <a:srcRect t="1160" b="13613"/>
          <a:stretch/>
        </p:blipFill>
        <p:spPr>
          <a:xfrm>
            <a:off x="1" y="1"/>
            <a:ext cx="12191999" cy="6857999"/>
          </a:xfrm>
          <a:prstGeom prst="rect">
            <a:avLst/>
          </a:prstGeom>
        </p:spPr>
      </p:pic>
      <p:sp>
        <p:nvSpPr>
          <p:cNvPr id="11" name="Rectangle 10">
            <a:extLst>
              <a:ext uri="{FF2B5EF4-FFF2-40B4-BE49-F238E27FC236}">
                <a16:creationId xmlns:a16="http://schemas.microsoft.com/office/drawing/2014/main" id="{72E284DE-AB43-1296-3166-892F44A3A2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8BF4A6F-E423-5C7E-9092-63FFD305C8C5}"/>
              </a:ext>
            </a:extLst>
          </p:cNvPr>
          <p:cNvSpPr>
            <a:spLocks noGrp="1"/>
          </p:cNvSpPr>
          <p:nvPr>
            <p:ph type="ctrTitle"/>
          </p:nvPr>
        </p:nvSpPr>
        <p:spPr>
          <a:xfrm>
            <a:off x="457195" y="701964"/>
            <a:ext cx="5370950" cy="3640303"/>
          </a:xfrm>
        </p:spPr>
        <p:txBody>
          <a:bodyPr anchor="t">
            <a:normAutofit/>
          </a:bodyPr>
          <a:lstStyle/>
          <a:p>
            <a:pPr>
              <a:lnSpc>
                <a:spcPct val="90000"/>
              </a:lnSpc>
            </a:pPr>
            <a:r>
              <a:rPr lang="en-US" sz="6000">
                <a:solidFill>
                  <a:srgbClr val="FFFFFF"/>
                </a:solidFill>
              </a:rPr>
              <a:t>LAB 8 – PROCESSES, SSH AND FIREWALLS</a:t>
            </a:r>
            <a:endParaRPr lang="en-CA" sz="6000">
              <a:solidFill>
                <a:srgbClr val="FFFFFF"/>
              </a:solidFill>
            </a:endParaRPr>
          </a:p>
        </p:txBody>
      </p:sp>
      <p:sp>
        <p:nvSpPr>
          <p:cNvPr id="3" name="Subtitle 2">
            <a:extLst>
              <a:ext uri="{FF2B5EF4-FFF2-40B4-BE49-F238E27FC236}">
                <a16:creationId xmlns:a16="http://schemas.microsoft.com/office/drawing/2014/main" id="{33EBA576-6286-77DC-C58A-E4E311B1F508}"/>
              </a:ext>
            </a:extLst>
          </p:cNvPr>
          <p:cNvSpPr>
            <a:spLocks noGrp="1"/>
          </p:cNvSpPr>
          <p:nvPr>
            <p:ph type="subTitle" idx="1"/>
          </p:nvPr>
        </p:nvSpPr>
        <p:spPr>
          <a:xfrm>
            <a:off x="468090" y="5253050"/>
            <a:ext cx="3888419" cy="969264"/>
          </a:xfrm>
        </p:spPr>
        <p:txBody>
          <a:bodyPr anchor="t">
            <a:normAutofit/>
          </a:bodyPr>
          <a:lstStyle/>
          <a:p>
            <a:r>
              <a:rPr lang="en-US" sz="2000">
                <a:solidFill>
                  <a:srgbClr val="FFFFFF"/>
                </a:solidFill>
              </a:rPr>
              <a:t>DAPHNE GWYNETH CAMODOC</a:t>
            </a:r>
            <a:endParaRPr lang="en-CA" sz="2000">
              <a:solidFill>
                <a:srgbClr val="FFFFFF"/>
              </a:solidFill>
            </a:endParaRPr>
          </a:p>
        </p:txBody>
      </p:sp>
      <p:cxnSp>
        <p:nvCxnSpPr>
          <p:cNvPr id="13" name="Straight Connector 12">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0329"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574449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F4CF3-78F9-D31B-C013-B1B21FAC6D67}"/>
              </a:ext>
            </a:extLst>
          </p:cNvPr>
          <p:cNvSpPr>
            <a:spLocks noGrp="1"/>
          </p:cNvSpPr>
          <p:nvPr>
            <p:ph type="title"/>
          </p:nvPr>
        </p:nvSpPr>
        <p:spPr/>
        <p:txBody>
          <a:bodyPr>
            <a:normAutofit/>
          </a:bodyPr>
          <a:lstStyle/>
          <a:p>
            <a:r>
              <a:rPr lang="en-CA" sz="2200" dirty="0">
                <a:latin typeface="Arial Black" panose="020B0A04020102020204" pitchFamily="34" charset="0"/>
                <a:ea typeface="ADLaM Display" panose="02010000000000000000" pitchFamily="2" charset="0"/>
                <a:cs typeface="ADLaM Display" panose="02010000000000000000" pitchFamily="2" charset="0"/>
              </a:rPr>
              <a:t>PART 1</a:t>
            </a:r>
            <a:br>
              <a:rPr lang="en-CA" sz="2200" dirty="0">
                <a:latin typeface="Arial Black" panose="020B0A04020102020204" pitchFamily="34" charset="0"/>
                <a:ea typeface="ADLaM Display" panose="02010000000000000000" pitchFamily="2" charset="0"/>
                <a:cs typeface="ADLaM Display" panose="02010000000000000000" pitchFamily="2" charset="0"/>
              </a:rPr>
            </a:br>
            <a:r>
              <a:rPr lang="en-US" sz="1800" b="0" dirty="0">
                <a:latin typeface="Arial" panose="020B0604020202020204" pitchFamily="34" charset="0"/>
                <a:ea typeface="ADLaM Display" panose="02010000000000000000" pitchFamily="2" charset="0"/>
                <a:cs typeface="Arial" panose="020B0604020202020204" pitchFamily="34" charset="0"/>
              </a:rPr>
              <a:t>How you would find the PID of a process</a:t>
            </a:r>
            <a:br>
              <a:rPr lang="en-US" sz="1800" b="0" dirty="0">
                <a:latin typeface="Arial" panose="020B0604020202020204" pitchFamily="34" charset="0"/>
                <a:ea typeface="ADLaM Display" panose="02010000000000000000" pitchFamily="2" charset="0"/>
                <a:cs typeface="Arial" panose="020B0604020202020204" pitchFamily="34" charset="0"/>
              </a:rPr>
            </a:br>
            <a:r>
              <a:rPr lang="en-US" sz="1800" b="0" dirty="0">
                <a:latin typeface="Arial" panose="020B0604020202020204" pitchFamily="34" charset="0"/>
                <a:ea typeface="ADLaM Display" panose="02010000000000000000" pitchFamily="2" charset="0"/>
                <a:cs typeface="Arial" panose="020B0604020202020204" pitchFamily="34" charset="0"/>
              </a:rPr>
              <a:t>- using </a:t>
            </a:r>
            <a:r>
              <a:rPr lang="en-US" sz="1800" b="0" dirty="0" err="1">
                <a:latin typeface="Arial" panose="020B0604020202020204" pitchFamily="34" charset="0"/>
                <a:ea typeface="ADLaM Display" panose="02010000000000000000" pitchFamily="2" charset="0"/>
                <a:cs typeface="Arial" panose="020B0604020202020204" pitchFamily="34" charset="0"/>
              </a:rPr>
              <a:t>ps</a:t>
            </a:r>
            <a:r>
              <a:rPr lang="en-US" sz="1800" b="0" dirty="0">
                <a:latin typeface="Arial" panose="020B0604020202020204" pitchFamily="34" charset="0"/>
                <a:ea typeface="ADLaM Display" panose="02010000000000000000" pitchFamily="2" charset="0"/>
                <a:cs typeface="Arial" panose="020B0604020202020204" pitchFamily="34" charset="0"/>
              </a:rPr>
              <a:t> command or </a:t>
            </a:r>
            <a:r>
              <a:rPr lang="en-US" sz="1800" b="0" dirty="0" err="1">
                <a:latin typeface="Arial" panose="020B0604020202020204" pitchFamily="34" charset="0"/>
                <a:ea typeface="ADLaM Display" panose="02010000000000000000" pitchFamily="2" charset="0"/>
                <a:cs typeface="Arial" panose="020B0604020202020204" pitchFamily="34" charset="0"/>
              </a:rPr>
              <a:t>ps</a:t>
            </a:r>
            <a:r>
              <a:rPr lang="en-US" sz="1800" b="0" dirty="0">
                <a:latin typeface="Arial" panose="020B0604020202020204" pitchFamily="34" charset="0"/>
                <a:ea typeface="ADLaM Display" panose="02010000000000000000" pitchFamily="2" charset="0"/>
                <a:cs typeface="Arial" panose="020B0604020202020204" pitchFamily="34" charset="0"/>
              </a:rPr>
              <a:t> aux command</a:t>
            </a:r>
            <a:endParaRPr lang="en-CA" sz="1800" b="0" dirty="0">
              <a:latin typeface="Arial" panose="020B0604020202020204" pitchFamily="34" charset="0"/>
              <a:ea typeface="ADLaM Display" panose="02010000000000000000" pitchFamily="2" charset="0"/>
              <a:cs typeface="Arial" panose="020B0604020202020204" pitchFamily="34" charset="0"/>
            </a:endParaRPr>
          </a:p>
        </p:txBody>
      </p:sp>
      <p:pic>
        <p:nvPicPr>
          <p:cNvPr id="5" name="Content Placeholder 4" descr="A screenshot of a computer&#10;&#10;AI-generated content may be incorrect.">
            <a:extLst>
              <a:ext uri="{FF2B5EF4-FFF2-40B4-BE49-F238E27FC236}">
                <a16:creationId xmlns:a16="http://schemas.microsoft.com/office/drawing/2014/main" id="{E39B10B1-975D-3887-55E8-EAAA7CB950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7239" y="3429000"/>
            <a:ext cx="3572374" cy="885949"/>
          </a:xfrm>
        </p:spPr>
      </p:pic>
      <p:pic>
        <p:nvPicPr>
          <p:cNvPr id="7" name="Picture 6" descr="A screenshot of a computer program&#10;&#10;AI-generated content may be incorrect.">
            <a:extLst>
              <a:ext uri="{FF2B5EF4-FFF2-40B4-BE49-F238E27FC236}">
                <a16:creationId xmlns:a16="http://schemas.microsoft.com/office/drawing/2014/main" id="{5C73B581-D153-DC1E-48BA-29BD3D3F49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3419" y="2604383"/>
            <a:ext cx="6087589" cy="3950721"/>
          </a:xfrm>
          <a:prstGeom prst="rect">
            <a:avLst/>
          </a:prstGeom>
        </p:spPr>
      </p:pic>
    </p:spTree>
    <p:extLst>
      <p:ext uri="{BB962C8B-B14F-4D97-AF65-F5344CB8AC3E}">
        <p14:creationId xmlns:p14="http://schemas.microsoft.com/office/powerpoint/2010/main" val="2899932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D6619-6AEC-AE15-67B9-E315A8C3A6E6}"/>
              </a:ext>
            </a:extLst>
          </p:cNvPr>
          <p:cNvSpPr>
            <a:spLocks noGrp="1"/>
          </p:cNvSpPr>
          <p:nvPr>
            <p:ph type="title"/>
          </p:nvPr>
        </p:nvSpPr>
        <p:spPr/>
        <p:txBody>
          <a:bodyPr>
            <a:normAutofit/>
          </a:bodyPr>
          <a:lstStyle/>
          <a:p>
            <a:r>
              <a:rPr lang="en-PH" sz="1800" b="0" dirty="0">
                <a:latin typeface="Arial" panose="020B0604020202020204" pitchFamily="34" charset="0"/>
                <a:cs typeface="Arial" panose="020B0604020202020204" pitchFamily="34" charset="0"/>
              </a:rPr>
              <a:t>How to kill a process</a:t>
            </a:r>
            <a:br>
              <a:rPr lang="en-PH" sz="1800" b="0" dirty="0">
                <a:latin typeface="Arial" panose="020B0604020202020204" pitchFamily="34" charset="0"/>
                <a:cs typeface="Arial" panose="020B0604020202020204" pitchFamily="34" charset="0"/>
              </a:rPr>
            </a:br>
            <a:r>
              <a:rPr lang="en-PH" sz="1800" b="0" dirty="0">
                <a:latin typeface="Arial" panose="020B0604020202020204" pitchFamily="34" charset="0"/>
                <a:cs typeface="Arial" panose="020B0604020202020204" pitchFamily="34" charset="0"/>
              </a:rPr>
              <a:t>&gt; to display available signals you can use the kill -l command</a:t>
            </a:r>
            <a:br>
              <a:rPr lang="en-PH" sz="1800" b="0" dirty="0">
                <a:latin typeface="Arial" panose="020B0604020202020204" pitchFamily="34" charset="0"/>
                <a:cs typeface="Arial" panose="020B0604020202020204" pitchFamily="34" charset="0"/>
              </a:rPr>
            </a:br>
            <a:r>
              <a:rPr lang="en-PH" sz="1800" b="0" dirty="0">
                <a:latin typeface="Arial" panose="020B0604020202020204" pitchFamily="34" charset="0"/>
                <a:cs typeface="Arial" panose="020B0604020202020204" pitchFamily="34" charset="0"/>
              </a:rPr>
              <a:t>&gt; you can also use “kill [signal] PID” command to kil a process</a:t>
            </a:r>
          </a:p>
        </p:txBody>
      </p:sp>
      <p:pic>
        <p:nvPicPr>
          <p:cNvPr id="4" name="Content Placeholder 3">
            <a:extLst>
              <a:ext uri="{FF2B5EF4-FFF2-40B4-BE49-F238E27FC236}">
                <a16:creationId xmlns:a16="http://schemas.microsoft.com/office/drawing/2014/main" id="{E47ECE8A-4080-BF65-BD75-B96BD6D038D9}"/>
              </a:ext>
            </a:extLst>
          </p:cNvPr>
          <p:cNvPicPr>
            <a:picLocks noGrp="1" noChangeAspect="1"/>
          </p:cNvPicPr>
          <p:nvPr>
            <p:ph idx="1"/>
          </p:nvPr>
        </p:nvPicPr>
        <p:blipFill>
          <a:blip r:embed="rId2"/>
          <a:stretch>
            <a:fillRect/>
          </a:stretch>
        </p:blipFill>
        <p:spPr>
          <a:xfrm>
            <a:off x="1899247" y="2633663"/>
            <a:ext cx="8372868" cy="3565525"/>
          </a:xfrm>
          <a:prstGeom prst="rect">
            <a:avLst/>
          </a:prstGeom>
        </p:spPr>
      </p:pic>
    </p:spTree>
    <p:extLst>
      <p:ext uri="{BB962C8B-B14F-4D97-AF65-F5344CB8AC3E}">
        <p14:creationId xmlns:p14="http://schemas.microsoft.com/office/powerpoint/2010/main" val="1475594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5BBCB-F7AA-AFBC-3BF9-E0E7AC712857}"/>
              </a:ext>
            </a:extLst>
          </p:cNvPr>
          <p:cNvSpPr>
            <a:spLocks noGrp="1"/>
          </p:cNvSpPr>
          <p:nvPr>
            <p:ph type="title"/>
          </p:nvPr>
        </p:nvSpPr>
        <p:spPr/>
        <p:txBody>
          <a:bodyPr>
            <a:normAutofit fontScale="90000"/>
          </a:bodyPr>
          <a:lstStyle/>
          <a:p>
            <a:r>
              <a:rPr lang="en-CA" sz="2200" dirty="0">
                <a:latin typeface="Arial Black" panose="020B0A04020102020204" pitchFamily="34" charset="0"/>
                <a:ea typeface="ADLaM Display" panose="02010000000000000000" pitchFamily="2" charset="0"/>
                <a:cs typeface="ADLaM Display" panose="02010000000000000000" pitchFamily="2" charset="0"/>
              </a:rPr>
              <a:t>PART 2</a:t>
            </a:r>
            <a:br>
              <a:rPr lang="en-CA" sz="2200" dirty="0">
                <a:latin typeface="Arial Black" panose="020B0A04020102020204" pitchFamily="34" charset="0"/>
                <a:ea typeface="ADLaM Display" panose="02010000000000000000" pitchFamily="2" charset="0"/>
                <a:cs typeface="ADLaM Display" panose="02010000000000000000" pitchFamily="2" charset="0"/>
              </a:rPr>
            </a:br>
            <a:r>
              <a:rPr lang="en-US" sz="1800" b="0" dirty="0">
                <a:latin typeface="Arial "/>
                <a:ea typeface="ADLaM Display" panose="02010000000000000000" pitchFamily="2" charset="0"/>
                <a:cs typeface="ADLaM Display" panose="02010000000000000000" pitchFamily="2" charset="0"/>
              </a:rPr>
              <a:t>Installing and configuring the Ubuntu Firewall using UFW using the commands:</a:t>
            </a:r>
            <a:br>
              <a:rPr lang="en-US" sz="1800" b="0" dirty="0">
                <a:latin typeface="Arial "/>
                <a:ea typeface="ADLaM Display" panose="02010000000000000000" pitchFamily="2" charset="0"/>
                <a:cs typeface="ADLaM Display" panose="02010000000000000000" pitchFamily="2" charset="0"/>
              </a:rPr>
            </a:br>
            <a:r>
              <a:rPr lang="en-US" sz="1800" b="0" dirty="0">
                <a:latin typeface="Arial "/>
                <a:ea typeface="ADLaM Display" panose="02010000000000000000" pitchFamily="2" charset="0"/>
                <a:cs typeface="ADLaM Display" panose="02010000000000000000" pitchFamily="2" charset="0"/>
              </a:rPr>
              <a:t>&gt; </a:t>
            </a:r>
            <a:r>
              <a:rPr lang="en-US" sz="1800" b="0" dirty="0" err="1">
                <a:latin typeface="Arial "/>
                <a:ea typeface="ADLaM Display" panose="02010000000000000000" pitchFamily="2" charset="0"/>
                <a:cs typeface="ADLaM Display" panose="02010000000000000000" pitchFamily="2" charset="0"/>
              </a:rPr>
              <a:t>sudo</a:t>
            </a:r>
            <a:r>
              <a:rPr lang="en-US" sz="1800" b="0" dirty="0">
                <a:latin typeface="Arial "/>
                <a:ea typeface="ADLaM Display" panose="02010000000000000000" pitchFamily="2" charset="0"/>
                <a:cs typeface="ADLaM Display" panose="02010000000000000000" pitchFamily="2" charset="0"/>
              </a:rPr>
              <a:t> </a:t>
            </a:r>
            <a:r>
              <a:rPr lang="en-US" sz="1800" b="0" dirty="0" err="1">
                <a:latin typeface="Arial "/>
                <a:ea typeface="ADLaM Display" panose="02010000000000000000" pitchFamily="2" charset="0"/>
                <a:cs typeface="ADLaM Display" panose="02010000000000000000" pitchFamily="2" charset="0"/>
              </a:rPr>
              <a:t>ufw</a:t>
            </a:r>
            <a:r>
              <a:rPr lang="en-US" sz="1800" b="0" dirty="0">
                <a:latin typeface="Arial "/>
                <a:ea typeface="ADLaM Display" panose="02010000000000000000" pitchFamily="2" charset="0"/>
                <a:cs typeface="ADLaM Display" panose="02010000000000000000" pitchFamily="2" charset="0"/>
              </a:rPr>
              <a:t> allow ssh</a:t>
            </a:r>
            <a:br>
              <a:rPr lang="en-US" sz="1800" b="0" dirty="0">
                <a:latin typeface="Arial "/>
                <a:ea typeface="ADLaM Display" panose="02010000000000000000" pitchFamily="2" charset="0"/>
                <a:cs typeface="ADLaM Display" panose="02010000000000000000" pitchFamily="2" charset="0"/>
              </a:rPr>
            </a:br>
            <a:r>
              <a:rPr lang="en-US" sz="1800" b="0" dirty="0">
                <a:latin typeface="Arial "/>
                <a:ea typeface="ADLaM Display" panose="02010000000000000000" pitchFamily="2" charset="0"/>
                <a:cs typeface="ADLaM Display" panose="02010000000000000000" pitchFamily="2" charset="0"/>
              </a:rPr>
              <a:t>&gt; </a:t>
            </a:r>
            <a:r>
              <a:rPr lang="en-US" sz="1800" b="0" dirty="0" err="1">
                <a:latin typeface="Arial "/>
                <a:ea typeface="ADLaM Display" panose="02010000000000000000" pitchFamily="2" charset="0"/>
                <a:cs typeface="ADLaM Display" panose="02010000000000000000" pitchFamily="2" charset="0"/>
              </a:rPr>
              <a:t>sudo</a:t>
            </a:r>
            <a:r>
              <a:rPr lang="en-US" sz="1800" b="0" dirty="0">
                <a:latin typeface="Arial "/>
                <a:ea typeface="ADLaM Display" panose="02010000000000000000" pitchFamily="2" charset="0"/>
                <a:cs typeface="ADLaM Display" panose="02010000000000000000" pitchFamily="2" charset="0"/>
              </a:rPr>
              <a:t> </a:t>
            </a:r>
            <a:r>
              <a:rPr lang="en-US" sz="1800" b="0" dirty="0" err="1">
                <a:latin typeface="Arial "/>
                <a:ea typeface="ADLaM Display" panose="02010000000000000000" pitchFamily="2" charset="0"/>
                <a:cs typeface="ADLaM Display" panose="02010000000000000000" pitchFamily="2" charset="0"/>
              </a:rPr>
              <a:t>ufw</a:t>
            </a:r>
            <a:r>
              <a:rPr lang="en-US" sz="1800" b="0" dirty="0">
                <a:latin typeface="Arial "/>
                <a:ea typeface="ADLaM Display" panose="02010000000000000000" pitchFamily="2" charset="0"/>
                <a:cs typeface="ADLaM Display" panose="02010000000000000000" pitchFamily="2" charset="0"/>
              </a:rPr>
              <a:t> enable</a:t>
            </a:r>
            <a:br>
              <a:rPr lang="en-US" sz="1800" b="0" dirty="0">
                <a:latin typeface="Arial "/>
                <a:ea typeface="ADLaM Display" panose="02010000000000000000" pitchFamily="2" charset="0"/>
                <a:cs typeface="ADLaM Display" panose="02010000000000000000" pitchFamily="2" charset="0"/>
              </a:rPr>
            </a:br>
            <a:r>
              <a:rPr lang="en-US" sz="1800" b="0" dirty="0">
                <a:latin typeface="Arial "/>
                <a:ea typeface="ADLaM Display" panose="02010000000000000000" pitchFamily="2" charset="0"/>
                <a:cs typeface="ADLaM Display" panose="02010000000000000000" pitchFamily="2" charset="0"/>
              </a:rPr>
              <a:t>&gt; </a:t>
            </a:r>
            <a:r>
              <a:rPr lang="en-US" sz="1800" b="0" dirty="0" err="1">
                <a:latin typeface="Arial "/>
                <a:ea typeface="ADLaM Display" panose="02010000000000000000" pitchFamily="2" charset="0"/>
                <a:cs typeface="ADLaM Display" panose="02010000000000000000" pitchFamily="2" charset="0"/>
              </a:rPr>
              <a:t>sudo</a:t>
            </a:r>
            <a:r>
              <a:rPr lang="en-US" sz="1800" b="0" dirty="0">
                <a:latin typeface="Arial "/>
                <a:ea typeface="ADLaM Display" panose="02010000000000000000" pitchFamily="2" charset="0"/>
                <a:cs typeface="ADLaM Display" panose="02010000000000000000" pitchFamily="2" charset="0"/>
              </a:rPr>
              <a:t> </a:t>
            </a:r>
            <a:r>
              <a:rPr lang="en-US" sz="1800" b="0" dirty="0" err="1">
                <a:latin typeface="Arial "/>
                <a:ea typeface="ADLaM Display" panose="02010000000000000000" pitchFamily="2" charset="0"/>
                <a:cs typeface="ADLaM Display" panose="02010000000000000000" pitchFamily="2" charset="0"/>
              </a:rPr>
              <a:t>ufw</a:t>
            </a:r>
            <a:r>
              <a:rPr lang="en-US" sz="1800" b="0" dirty="0">
                <a:latin typeface="Arial "/>
                <a:ea typeface="ADLaM Display" panose="02010000000000000000" pitchFamily="2" charset="0"/>
                <a:cs typeface="ADLaM Display" panose="02010000000000000000" pitchFamily="2" charset="0"/>
              </a:rPr>
              <a:t> allow 1337</a:t>
            </a:r>
            <a:br>
              <a:rPr lang="en-US" sz="1800" b="0" dirty="0">
                <a:latin typeface="Arial "/>
                <a:ea typeface="ADLaM Display" panose="02010000000000000000" pitchFamily="2" charset="0"/>
                <a:cs typeface="ADLaM Display" panose="02010000000000000000" pitchFamily="2" charset="0"/>
              </a:rPr>
            </a:br>
            <a:r>
              <a:rPr lang="en-US" sz="1800" b="0" dirty="0">
                <a:latin typeface="Arial "/>
                <a:ea typeface="ADLaM Display" panose="02010000000000000000" pitchFamily="2" charset="0"/>
                <a:cs typeface="ADLaM Display" panose="02010000000000000000" pitchFamily="2" charset="0"/>
              </a:rPr>
              <a:t>And to check the status of your </a:t>
            </a:r>
            <a:r>
              <a:rPr lang="en-US" sz="1800" b="0" dirty="0" err="1">
                <a:latin typeface="Arial "/>
                <a:ea typeface="ADLaM Display" panose="02010000000000000000" pitchFamily="2" charset="0"/>
                <a:cs typeface="ADLaM Display" panose="02010000000000000000" pitchFamily="2" charset="0"/>
              </a:rPr>
              <a:t>ufw</a:t>
            </a:r>
            <a:r>
              <a:rPr lang="en-US" sz="1800" b="0" dirty="0">
                <a:latin typeface="Arial "/>
                <a:ea typeface="ADLaM Display" panose="02010000000000000000" pitchFamily="2" charset="0"/>
                <a:cs typeface="ADLaM Display" panose="02010000000000000000" pitchFamily="2" charset="0"/>
              </a:rPr>
              <a:t> use the command: </a:t>
            </a:r>
            <a:br>
              <a:rPr lang="en-US" sz="1800" b="0" dirty="0">
                <a:latin typeface="Arial "/>
                <a:ea typeface="ADLaM Display" panose="02010000000000000000" pitchFamily="2" charset="0"/>
                <a:cs typeface="ADLaM Display" panose="02010000000000000000" pitchFamily="2" charset="0"/>
              </a:rPr>
            </a:br>
            <a:r>
              <a:rPr lang="en-US" sz="1800" b="0" dirty="0">
                <a:latin typeface="Arial "/>
                <a:ea typeface="ADLaM Display" panose="02010000000000000000" pitchFamily="2" charset="0"/>
                <a:cs typeface="ADLaM Display" panose="02010000000000000000" pitchFamily="2" charset="0"/>
              </a:rPr>
              <a:t>&gt; </a:t>
            </a:r>
            <a:r>
              <a:rPr lang="en-US" sz="1800" b="0" dirty="0" err="1">
                <a:latin typeface="Arial "/>
                <a:ea typeface="ADLaM Display" panose="02010000000000000000" pitchFamily="2" charset="0"/>
                <a:cs typeface="ADLaM Display" panose="02010000000000000000" pitchFamily="2" charset="0"/>
              </a:rPr>
              <a:t>sudo</a:t>
            </a:r>
            <a:r>
              <a:rPr lang="en-US" sz="1800" b="0" dirty="0">
                <a:latin typeface="Arial "/>
                <a:ea typeface="ADLaM Display" panose="02010000000000000000" pitchFamily="2" charset="0"/>
                <a:cs typeface="ADLaM Display" panose="02010000000000000000" pitchFamily="2" charset="0"/>
              </a:rPr>
              <a:t> </a:t>
            </a:r>
            <a:r>
              <a:rPr lang="en-US" sz="1800" b="0" dirty="0" err="1">
                <a:latin typeface="Arial "/>
                <a:ea typeface="ADLaM Display" panose="02010000000000000000" pitchFamily="2" charset="0"/>
                <a:cs typeface="ADLaM Display" panose="02010000000000000000" pitchFamily="2" charset="0"/>
              </a:rPr>
              <a:t>ufw</a:t>
            </a:r>
            <a:r>
              <a:rPr lang="en-US" sz="1800" b="0" dirty="0">
                <a:latin typeface="Arial "/>
                <a:ea typeface="ADLaM Display" panose="02010000000000000000" pitchFamily="2" charset="0"/>
                <a:cs typeface="ADLaM Display" panose="02010000000000000000" pitchFamily="2" charset="0"/>
              </a:rPr>
              <a:t> status</a:t>
            </a:r>
            <a:endParaRPr lang="en-PH" sz="1800" b="0" dirty="0">
              <a:latin typeface="Arial "/>
            </a:endParaRPr>
          </a:p>
        </p:txBody>
      </p:sp>
      <p:pic>
        <p:nvPicPr>
          <p:cNvPr id="8" name="Content Placeholder 7" descr="A screenshot of a computer&#10;&#10;AI-generated content may be incorrect.">
            <a:extLst>
              <a:ext uri="{FF2B5EF4-FFF2-40B4-BE49-F238E27FC236}">
                <a16:creationId xmlns:a16="http://schemas.microsoft.com/office/drawing/2014/main" id="{A1C19BD2-6550-625F-6398-63D96428C9A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39763" y="3473388"/>
            <a:ext cx="5211762" cy="1886074"/>
          </a:xfrm>
        </p:spPr>
      </p:pic>
      <p:pic>
        <p:nvPicPr>
          <p:cNvPr id="10" name="Content Placeholder 9" descr="A screenshot of a computer&#10;&#10;AI-generated content may be incorrect.">
            <a:extLst>
              <a:ext uri="{FF2B5EF4-FFF2-40B4-BE49-F238E27FC236}">
                <a16:creationId xmlns:a16="http://schemas.microsoft.com/office/drawing/2014/main" id="{0EEE0B5D-AD62-C76E-F689-00603E01257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18250" y="3395206"/>
            <a:ext cx="5213350" cy="2042439"/>
          </a:xfrm>
        </p:spPr>
      </p:pic>
    </p:spTree>
    <p:extLst>
      <p:ext uri="{BB962C8B-B14F-4D97-AF65-F5344CB8AC3E}">
        <p14:creationId xmlns:p14="http://schemas.microsoft.com/office/powerpoint/2010/main" val="2131082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DA678-29A8-4B42-C9B2-587011F846E1}"/>
              </a:ext>
            </a:extLst>
          </p:cNvPr>
          <p:cNvSpPr>
            <a:spLocks noGrp="1"/>
          </p:cNvSpPr>
          <p:nvPr>
            <p:ph type="title"/>
          </p:nvPr>
        </p:nvSpPr>
        <p:spPr/>
        <p:txBody>
          <a:bodyPr>
            <a:normAutofit fontScale="90000"/>
          </a:bodyPr>
          <a:lstStyle/>
          <a:p>
            <a:r>
              <a:rPr lang="en-US" sz="1800" b="0" i="0" dirty="0">
                <a:solidFill>
                  <a:srgbClr val="202122"/>
                </a:solidFill>
                <a:effectLst/>
                <a:latin typeface="Arial "/>
              </a:rPr>
              <a:t>how to see what ports are open and what ports are listening using the command:</a:t>
            </a:r>
            <a:br>
              <a:rPr lang="en-US" sz="1800" b="0" i="0" dirty="0">
                <a:solidFill>
                  <a:srgbClr val="202122"/>
                </a:solidFill>
                <a:effectLst/>
                <a:latin typeface="Arial "/>
              </a:rPr>
            </a:br>
            <a:r>
              <a:rPr lang="en-US" sz="1800" b="0" i="0" dirty="0">
                <a:solidFill>
                  <a:srgbClr val="202122"/>
                </a:solidFill>
                <a:effectLst/>
                <a:latin typeface="Arial "/>
              </a:rPr>
              <a:t>&gt; ss -ant</a:t>
            </a:r>
            <a:br>
              <a:rPr lang="en-US" sz="1800" b="0" i="0" dirty="0">
                <a:solidFill>
                  <a:srgbClr val="202122"/>
                </a:solidFill>
                <a:effectLst/>
                <a:latin typeface="Arial "/>
              </a:rPr>
            </a:br>
            <a:r>
              <a:rPr lang="en-US" sz="1800" b="0" i="0" dirty="0">
                <a:solidFill>
                  <a:srgbClr val="202122"/>
                </a:solidFill>
                <a:effectLst/>
                <a:latin typeface="Arial "/>
              </a:rPr>
              <a:t>and to check the network services and ports mapped to them you can use the command:</a:t>
            </a:r>
            <a:br>
              <a:rPr lang="en-US" sz="1800" b="0" i="0" dirty="0">
                <a:solidFill>
                  <a:srgbClr val="202122"/>
                </a:solidFill>
                <a:effectLst/>
                <a:latin typeface="Arial "/>
              </a:rPr>
            </a:br>
            <a:r>
              <a:rPr lang="en-US" sz="1800" b="0" i="0" dirty="0">
                <a:solidFill>
                  <a:srgbClr val="202122"/>
                </a:solidFill>
                <a:effectLst/>
                <a:latin typeface="Arial "/>
              </a:rPr>
              <a:t>&gt; cat /</a:t>
            </a:r>
            <a:r>
              <a:rPr lang="en-US" sz="1800" b="0" i="0" dirty="0" err="1">
                <a:solidFill>
                  <a:srgbClr val="202122"/>
                </a:solidFill>
                <a:effectLst/>
                <a:latin typeface="Arial "/>
              </a:rPr>
              <a:t>etc</a:t>
            </a:r>
            <a:r>
              <a:rPr lang="en-US" sz="1800" b="0" i="0" dirty="0">
                <a:solidFill>
                  <a:srgbClr val="202122"/>
                </a:solidFill>
                <a:effectLst/>
                <a:latin typeface="Arial "/>
              </a:rPr>
              <a:t>/services</a:t>
            </a:r>
            <a:endParaRPr lang="en-PH" sz="1800" dirty="0">
              <a:latin typeface="Arial "/>
            </a:endParaRPr>
          </a:p>
        </p:txBody>
      </p:sp>
      <p:pic>
        <p:nvPicPr>
          <p:cNvPr id="6" name="Content Placeholder 5" descr="A computer screen with text&#10;&#10;AI-generated content may be incorrect.">
            <a:extLst>
              <a:ext uri="{FF2B5EF4-FFF2-40B4-BE49-F238E27FC236}">
                <a16:creationId xmlns:a16="http://schemas.microsoft.com/office/drawing/2014/main" id="{EFD83C8D-DFD6-360A-EB49-E860EDEDDBF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40079" y="3207850"/>
            <a:ext cx="5234941" cy="680833"/>
          </a:xfrm>
        </p:spPr>
      </p:pic>
      <p:pic>
        <p:nvPicPr>
          <p:cNvPr id="10" name="Picture 9" descr="A screenshot of a computer&#10;&#10;AI-generated content may be incorrect.">
            <a:extLst>
              <a:ext uri="{FF2B5EF4-FFF2-40B4-BE49-F238E27FC236}">
                <a16:creationId xmlns:a16="http://schemas.microsoft.com/office/drawing/2014/main" id="{8FF3645D-DC0C-7D59-D9CB-1C2D6C2A95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468881"/>
            <a:ext cx="5849181" cy="3615023"/>
          </a:xfrm>
          <a:prstGeom prst="rect">
            <a:avLst/>
          </a:prstGeom>
        </p:spPr>
      </p:pic>
    </p:spTree>
    <p:extLst>
      <p:ext uri="{BB962C8B-B14F-4D97-AF65-F5344CB8AC3E}">
        <p14:creationId xmlns:p14="http://schemas.microsoft.com/office/powerpoint/2010/main" val="2895819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687BC-3295-17F7-34B9-401495457D8D}"/>
              </a:ext>
            </a:extLst>
          </p:cNvPr>
          <p:cNvSpPr>
            <a:spLocks noGrp="1"/>
          </p:cNvSpPr>
          <p:nvPr>
            <p:ph type="title"/>
          </p:nvPr>
        </p:nvSpPr>
        <p:spPr>
          <a:xfrm>
            <a:off x="640079" y="1371601"/>
            <a:ext cx="6081921" cy="1873698"/>
          </a:xfrm>
        </p:spPr>
        <p:txBody>
          <a:bodyPr>
            <a:normAutofit fontScale="90000"/>
          </a:bodyPr>
          <a:lstStyle/>
          <a:p>
            <a:r>
              <a:rPr lang="en-PH" sz="1800" b="0" dirty="0">
                <a:latin typeface="Arial "/>
              </a:rPr>
              <a:t>Install ssh-server by tying the commands:</a:t>
            </a:r>
            <a:br>
              <a:rPr lang="en-PH" sz="1800" b="0" dirty="0">
                <a:latin typeface="Arial "/>
              </a:rPr>
            </a:br>
            <a:r>
              <a:rPr lang="en-PH" sz="1800" b="0" dirty="0">
                <a:latin typeface="Arial "/>
              </a:rPr>
              <a:t>&gt; </a:t>
            </a:r>
            <a:r>
              <a:rPr lang="en-PH" sz="1800" b="0" dirty="0" err="1">
                <a:latin typeface="Arial "/>
              </a:rPr>
              <a:t>sudo</a:t>
            </a:r>
            <a:r>
              <a:rPr lang="en-PH" sz="1800" b="0" dirty="0">
                <a:latin typeface="Arial "/>
              </a:rPr>
              <a:t> apt-get update</a:t>
            </a:r>
            <a:br>
              <a:rPr lang="en-PH" sz="1800" b="0" dirty="0">
                <a:latin typeface="Arial "/>
              </a:rPr>
            </a:br>
            <a:r>
              <a:rPr lang="en-PH" sz="1800" b="0" dirty="0">
                <a:latin typeface="Arial "/>
              </a:rPr>
              <a:t>&gt; </a:t>
            </a:r>
            <a:r>
              <a:rPr lang="en-PH" sz="1800" b="0" dirty="0" err="1">
                <a:latin typeface="Arial "/>
              </a:rPr>
              <a:t>sudo</a:t>
            </a:r>
            <a:r>
              <a:rPr lang="en-PH" sz="1800" b="0" dirty="0">
                <a:latin typeface="Arial "/>
              </a:rPr>
              <a:t> apt-get upgrade</a:t>
            </a:r>
            <a:br>
              <a:rPr lang="en-PH" sz="1800" b="0" dirty="0">
                <a:latin typeface="Arial "/>
              </a:rPr>
            </a:br>
            <a:r>
              <a:rPr lang="en-PH" sz="1800" b="0" dirty="0">
                <a:latin typeface="Arial "/>
              </a:rPr>
              <a:t>&gt; </a:t>
            </a:r>
            <a:r>
              <a:rPr lang="en-PH" sz="1800" b="0" dirty="0" err="1">
                <a:latin typeface="Arial "/>
              </a:rPr>
              <a:t>sudo</a:t>
            </a:r>
            <a:r>
              <a:rPr lang="en-PH" sz="1800" b="0" dirty="0">
                <a:latin typeface="Arial "/>
              </a:rPr>
              <a:t> apt install </a:t>
            </a:r>
            <a:r>
              <a:rPr lang="en-PH" sz="1800" b="0" dirty="0" err="1">
                <a:latin typeface="Arial "/>
              </a:rPr>
              <a:t>openssh</a:t>
            </a:r>
            <a:r>
              <a:rPr lang="en-PH" sz="1800" b="0" dirty="0">
                <a:latin typeface="Arial "/>
              </a:rPr>
              <a:t>-server</a:t>
            </a:r>
            <a:br>
              <a:rPr lang="en-PH" sz="1800" b="0" dirty="0">
                <a:latin typeface="Arial "/>
              </a:rPr>
            </a:br>
            <a:r>
              <a:rPr lang="en-US" sz="1800" b="0" dirty="0">
                <a:latin typeface="Arial "/>
              </a:rPr>
              <a:t>Once the installation is complete, SSH service will start automatically. You can verify that SSH is running by typing</a:t>
            </a:r>
            <a:br>
              <a:rPr lang="en-US" sz="1800" b="0" dirty="0">
                <a:latin typeface="Arial "/>
              </a:rPr>
            </a:br>
            <a:r>
              <a:rPr lang="en-US" sz="1800" b="0" dirty="0">
                <a:latin typeface="Arial "/>
              </a:rPr>
              <a:t>“</a:t>
            </a:r>
            <a:r>
              <a:rPr lang="en-US" sz="1800" b="0" dirty="0" err="1">
                <a:latin typeface="Arial "/>
              </a:rPr>
              <a:t>sudo</a:t>
            </a:r>
            <a:r>
              <a:rPr lang="en-US" sz="1800" b="0" dirty="0">
                <a:latin typeface="Arial "/>
              </a:rPr>
              <a:t> </a:t>
            </a:r>
            <a:r>
              <a:rPr lang="en-US" sz="1800" b="0" dirty="0" err="1">
                <a:latin typeface="Arial "/>
              </a:rPr>
              <a:t>systemctl</a:t>
            </a:r>
            <a:r>
              <a:rPr lang="en-US" sz="1800" b="0" dirty="0">
                <a:latin typeface="Arial "/>
              </a:rPr>
              <a:t> status ssh”</a:t>
            </a:r>
            <a:br>
              <a:rPr lang="en-US" sz="1800" b="0" dirty="0">
                <a:latin typeface="Arial "/>
              </a:rPr>
            </a:br>
            <a:endParaRPr lang="en-PH" sz="1800" b="0" dirty="0">
              <a:latin typeface="Arial "/>
            </a:endParaRPr>
          </a:p>
        </p:txBody>
      </p:sp>
      <p:pic>
        <p:nvPicPr>
          <p:cNvPr id="5" name="Content Placeholder 4" descr="A screenshot of a computer program&#10;&#10;AI-generated content may be incorrect.">
            <a:extLst>
              <a:ext uri="{FF2B5EF4-FFF2-40B4-BE49-F238E27FC236}">
                <a16:creationId xmlns:a16="http://schemas.microsoft.com/office/drawing/2014/main" id="{85C51283-8D85-9FBF-4BA1-81EC5A9474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22000" y="3476118"/>
            <a:ext cx="5286947" cy="2953256"/>
          </a:xfrm>
        </p:spPr>
      </p:pic>
      <p:pic>
        <p:nvPicPr>
          <p:cNvPr id="7" name="Picture 6" descr="A computer screen shot of a program&#10;&#10;AI-generated content may be incorrect.">
            <a:extLst>
              <a:ext uri="{FF2B5EF4-FFF2-40B4-BE49-F238E27FC236}">
                <a16:creationId xmlns:a16="http://schemas.microsoft.com/office/drawing/2014/main" id="{2A447895-2F67-9E17-2F55-A4A361EACD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79" y="3309561"/>
            <a:ext cx="5495975" cy="3119813"/>
          </a:xfrm>
          <a:prstGeom prst="rect">
            <a:avLst/>
          </a:prstGeom>
        </p:spPr>
      </p:pic>
      <p:pic>
        <p:nvPicPr>
          <p:cNvPr id="9" name="Picture 8" descr="A computer screen shot of a program&#10;&#10;AI-generated content may be incorrect.">
            <a:extLst>
              <a:ext uri="{FF2B5EF4-FFF2-40B4-BE49-F238E27FC236}">
                <a16:creationId xmlns:a16="http://schemas.microsoft.com/office/drawing/2014/main" id="{17C03C2B-6463-A2B6-F5BF-9E1C145FD9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22000" y="428626"/>
            <a:ext cx="5286947" cy="2983230"/>
          </a:xfrm>
          <a:prstGeom prst="rect">
            <a:avLst/>
          </a:prstGeom>
        </p:spPr>
      </p:pic>
    </p:spTree>
    <p:extLst>
      <p:ext uri="{BB962C8B-B14F-4D97-AF65-F5344CB8AC3E}">
        <p14:creationId xmlns:p14="http://schemas.microsoft.com/office/powerpoint/2010/main" val="4220849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51960-AEB8-E657-8B2D-04E617E2E2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2D0482-B62E-0C7F-0948-820DA15DE8D9}"/>
              </a:ext>
            </a:extLst>
          </p:cNvPr>
          <p:cNvSpPr>
            <a:spLocks noGrp="1"/>
          </p:cNvSpPr>
          <p:nvPr>
            <p:ph type="title"/>
          </p:nvPr>
        </p:nvSpPr>
        <p:spPr/>
        <p:txBody>
          <a:bodyPr>
            <a:normAutofit fontScale="90000"/>
          </a:bodyPr>
          <a:lstStyle/>
          <a:p>
            <a:r>
              <a:rPr lang="en-PH" sz="1800" b="0" dirty="0">
                <a:latin typeface="Arial "/>
              </a:rPr>
              <a:t>Create the connection with ssh and putty.</a:t>
            </a:r>
            <a:br>
              <a:rPr lang="en-PH" sz="1800" b="0" dirty="0">
                <a:latin typeface="Arial "/>
              </a:rPr>
            </a:br>
            <a:r>
              <a:rPr lang="en-PH" sz="1800" b="0" dirty="0">
                <a:latin typeface="Arial "/>
              </a:rPr>
              <a:t>You need to know your </a:t>
            </a:r>
            <a:r>
              <a:rPr lang="en-PH" sz="1800" b="0" dirty="0" err="1">
                <a:latin typeface="Arial "/>
              </a:rPr>
              <a:t>ip</a:t>
            </a:r>
            <a:r>
              <a:rPr lang="en-PH" sz="1800" b="0" dirty="0">
                <a:latin typeface="Arial "/>
              </a:rPr>
              <a:t> address first using the </a:t>
            </a:r>
            <a:r>
              <a:rPr lang="en-PH" sz="1800" b="0" dirty="0" err="1">
                <a:latin typeface="Arial "/>
              </a:rPr>
              <a:t>ifconfig</a:t>
            </a:r>
            <a:r>
              <a:rPr lang="en-PH" sz="1800" b="0" dirty="0">
                <a:latin typeface="Arial "/>
              </a:rPr>
              <a:t> command. If you don’t have it yet you can install it by typing the command “</a:t>
            </a:r>
            <a:r>
              <a:rPr lang="en-PH" sz="1800" b="0" dirty="0" err="1">
                <a:latin typeface="Arial "/>
              </a:rPr>
              <a:t>sudo</a:t>
            </a:r>
            <a:r>
              <a:rPr lang="en-PH" sz="1800" b="0" dirty="0">
                <a:latin typeface="Arial "/>
              </a:rPr>
              <a:t> apt install net-tools”</a:t>
            </a:r>
            <a:br>
              <a:rPr lang="en-PH" sz="1800" b="0" dirty="0">
                <a:latin typeface="Arial "/>
              </a:rPr>
            </a:br>
            <a:endParaRPr lang="en-PH" sz="1800" b="0" dirty="0">
              <a:latin typeface="Arial "/>
            </a:endParaRPr>
          </a:p>
        </p:txBody>
      </p:sp>
      <p:pic>
        <p:nvPicPr>
          <p:cNvPr id="5" name="Content Placeholder 4" descr="A screenshot of a computer program&#10;&#10;AI-generated content may be incorrect.">
            <a:extLst>
              <a:ext uri="{FF2B5EF4-FFF2-40B4-BE49-F238E27FC236}">
                <a16:creationId xmlns:a16="http://schemas.microsoft.com/office/drawing/2014/main" id="{23223C63-D254-99CD-B6A1-D2EA588150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89693" y="2633663"/>
            <a:ext cx="6391977" cy="3565525"/>
          </a:xfrm>
        </p:spPr>
      </p:pic>
    </p:spTree>
    <p:extLst>
      <p:ext uri="{BB962C8B-B14F-4D97-AF65-F5344CB8AC3E}">
        <p14:creationId xmlns:p14="http://schemas.microsoft.com/office/powerpoint/2010/main" val="2854818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C30FD-EEA7-BF36-B8C1-75F3D2C2DD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4B922F-71F7-F4A6-C6BB-9429B3955046}"/>
              </a:ext>
            </a:extLst>
          </p:cNvPr>
          <p:cNvSpPr>
            <a:spLocks noGrp="1"/>
          </p:cNvSpPr>
          <p:nvPr>
            <p:ph type="title"/>
          </p:nvPr>
        </p:nvSpPr>
        <p:spPr>
          <a:xfrm>
            <a:off x="640080" y="1371601"/>
            <a:ext cx="5336178" cy="1097280"/>
          </a:xfrm>
        </p:spPr>
        <p:txBody>
          <a:bodyPr>
            <a:normAutofit/>
          </a:bodyPr>
          <a:lstStyle/>
          <a:p>
            <a:r>
              <a:rPr lang="en-PH" sz="1800" b="0" dirty="0">
                <a:latin typeface="Arial "/>
              </a:rPr>
              <a:t>Type </a:t>
            </a:r>
            <a:r>
              <a:rPr lang="en-PH" sz="1800" b="0" dirty="0" err="1">
                <a:latin typeface="Arial "/>
              </a:rPr>
              <a:t>ifconfig</a:t>
            </a:r>
            <a:r>
              <a:rPr lang="en-PH" sz="1800" b="0" dirty="0">
                <a:latin typeface="Arial "/>
              </a:rPr>
              <a:t> and you can now see your </a:t>
            </a:r>
            <a:r>
              <a:rPr lang="en-PH" sz="1800" b="0" dirty="0" err="1">
                <a:latin typeface="Arial "/>
              </a:rPr>
              <a:t>ip</a:t>
            </a:r>
            <a:r>
              <a:rPr lang="en-PH" sz="1800" b="0" dirty="0">
                <a:latin typeface="Arial "/>
              </a:rPr>
              <a:t>.</a:t>
            </a:r>
            <a:br>
              <a:rPr lang="en-PH" sz="1800" b="0" dirty="0">
                <a:latin typeface="Arial "/>
              </a:rPr>
            </a:br>
            <a:r>
              <a:rPr lang="en-PH" sz="1800" b="0" dirty="0">
                <a:latin typeface="Arial "/>
              </a:rPr>
              <a:t>To connect to the putty, put your </a:t>
            </a:r>
            <a:r>
              <a:rPr lang="en-PH" sz="1800" b="0" dirty="0" err="1">
                <a:latin typeface="Arial "/>
              </a:rPr>
              <a:t>ip</a:t>
            </a:r>
            <a:r>
              <a:rPr lang="en-PH" sz="1800" b="0" dirty="0">
                <a:latin typeface="Arial "/>
              </a:rPr>
              <a:t> address and login your user and put your password to access </a:t>
            </a:r>
          </a:p>
        </p:txBody>
      </p:sp>
      <p:pic>
        <p:nvPicPr>
          <p:cNvPr id="9" name="Content Placeholder 8" descr="A computer screen shot of a computer program&#10;&#10;AI-generated content may be incorrect.">
            <a:extLst>
              <a:ext uri="{FF2B5EF4-FFF2-40B4-BE49-F238E27FC236}">
                <a16:creationId xmlns:a16="http://schemas.microsoft.com/office/drawing/2014/main" id="{F29C18BB-23DF-27FD-C7D1-7D83B5C3BA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0079" y="2860767"/>
            <a:ext cx="5234085" cy="2160269"/>
          </a:xfrm>
        </p:spPr>
      </p:pic>
      <p:sp>
        <p:nvSpPr>
          <p:cNvPr id="10" name="Rectangle 9">
            <a:extLst>
              <a:ext uri="{FF2B5EF4-FFF2-40B4-BE49-F238E27FC236}">
                <a16:creationId xmlns:a16="http://schemas.microsoft.com/office/drawing/2014/main" id="{D8B852D9-2F1C-1E4A-32FD-7AE36BF8491A}"/>
              </a:ext>
            </a:extLst>
          </p:cNvPr>
          <p:cNvSpPr/>
          <p:nvPr/>
        </p:nvSpPr>
        <p:spPr>
          <a:xfrm>
            <a:off x="1072529" y="3080084"/>
            <a:ext cx="1093155" cy="1512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026" name="Picture 2">
            <a:extLst>
              <a:ext uri="{FF2B5EF4-FFF2-40B4-BE49-F238E27FC236}">
                <a16:creationId xmlns:a16="http://schemas.microsoft.com/office/drawing/2014/main" id="{AD947179-DD54-0EB5-1130-01DEF1269F5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5492"/>
          <a:stretch/>
        </p:blipFill>
        <p:spPr bwMode="auto">
          <a:xfrm>
            <a:off x="6516410" y="660601"/>
            <a:ext cx="4995183" cy="220016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A screenshot of a computer&#10;&#10;AI-generated content may be incorrect.">
            <a:extLst>
              <a:ext uri="{FF2B5EF4-FFF2-40B4-BE49-F238E27FC236}">
                <a16:creationId xmlns:a16="http://schemas.microsoft.com/office/drawing/2014/main" id="{F858B380-521A-DF20-309D-118BC8BCF6B7}"/>
              </a:ext>
            </a:extLst>
          </p:cNvPr>
          <p:cNvPicPr>
            <a:picLocks noChangeAspect="1"/>
          </p:cNvPicPr>
          <p:nvPr/>
        </p:nvPicPr>
        <p:blipFill>
          <a:blip r:embed="rId4">
            <a:extLst>
              <a:ext uri="{28A0092B-C50C-407E-A947-70E740481C1C}">
                <a14:useLocalDpi xmlns:a14="http://schemas.microsoft.com/office/drawing/2010/main" val="0"/>
              </a:ext>
            </a:extLst>
          </a:blip>
          <a:srcRect l="48178" t="41692"/>
          <a:stretch/>
        </p:blipFill>
        <p:spPr>
          <a:xfrm>
            <a:off x="6516410" y="3173620"/>
            <a:ext cx="4995183" cy="3157586"/>
          </a:xfrm>
          <a:prstGeom prst="rect">
            <a:avLst/>
          </a:prstGeom>
        </p:spPr>
      </p:pic>
    </p:spTree>
    <p:extLst>
      <p:ext uri="{BB962C8B-B14F-4D97-AF65-F5344CB8AC3E}">
        <p14:creationId xmlns:p14="http://schemas.microsoft.com/office/powerpoint/2010/main" val="2377071247"/>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108</TotalTime>
  <Words>292</Words>
  <Application>Microsoft Office PowerPoint</Application>
  <PresentationFormat>Widescreen</PresentationFormat>
  <Paragraphs>9</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Arial </vt:lpstr>
      <vt:lpstr>Arial Black</vt:lpstr>
      <vt:lpstr>Grandview Display</vt:lpstr>
      <vt:lpstr>Neue Haas Grotesk Text Pro</vt:lpstr>
      <vt:lpstr>DashVTI</vt:lpstr>
      <vt:lpstr>LAB 8 – PROCESSES, SSH AND FIREWALLS</vt:lpstr>
      <vt:lpstr>PART 1 How you would find the PID of a process - using ps command or ps aux command</vt:lpstr>
      <vt:lpstr>How to kill a process &gt; to display available signals you can use the kill -l command &gt; you can also use “kill [signal] PID” command to kil a process</vt:lpstr>
      <vt:lpstr>PART 2 Installing and configuring the Ubuntu Firewall using UFW using the commands: &gt; sudo ufw allow ssh &gt; sudo ufw enable &gt; sudo ufw allow 1337 And to check the status of your ufw use the command:  &gt; sudo ufw status</vt:lpstr>
      <vt:lpstr>how to see what ports are open and what ports are listening using the command: &gt; ss -ant and to check the network services and ports mapped to them you can use the command: &gt; cat /etc/services</vt:lpstr>
      <vt:lpstr>Install ssh-server by tying the commands: &gt; sudo apt-get update &gt; sudo apt-get upgrade &gt; sudo apt install openssh-server Once the installation is complete, SSH service will start automatically. You can verify that SSH is running by typing “sudo systemctl status ssh” </vt:lpstr>
      <vt:lpstr>Create the connection with ssh and putty. You need to know your ip address first using the ifconfig command. If you don’t have it yet you can install it by typing the command “sudo apt install net-tools” </vt:lpstr>
      <vt:lpstr>Type ifconfig and you can now see your ip. To connect to the putty, put your ip address and login your user and put your password to access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Camodoc,Daphne Gwyneth</dc:creator>
  <cp:lastModifiedBy>Daphne Gwyneth Camodoc</cp:lastModifiedBy>
  <cp:revision>2</cp:revision>
  <dcterms:created xsi:type="dcterms:W3CDTF">2025-03-26T14:01:36Z</dcterms:created>
  <dcterms:modified xsi:type="dcterms:W3CDTF">2025-03-27T16:22:44Z</dcterms:modified>
</cp:coreProperties>
</file>